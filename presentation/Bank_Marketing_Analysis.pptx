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&lt;25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12.2</c:v>
                </c:pt>
                <c:pt idx="2">
                  <c:v>8.7</c:v>
                </c:pt>
                <c:pt idx="3">
                  <c:v>8.6</c:v>
                </c:pt>
                <c:pt idx="4">
                  <c:v>13.6</c:v>
                </c:pt>
                <c:pt idx="5">
                  <c:v>47.3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blue-collar</c:v>
                  </c:pt>
                  <c:pt idx="1">
                    <c:v>services</c:v>
                  </c:pt>
                  <c:pt idx="2">
                    <c:v>entrepreneur</c:v>
                  </c:pt>
                  <c:pt idx="3">
                    <c:v>housemaid</c:v>
                  </c:pt>
                  <c:pt idx="4">
                    <c:v>self-employed</c:v>
                  </c:pt>
                  <c:pt idx="5">
                    <c:v>technician</c:v>
                  </c:pt>
                  <c:pt idx="6">
                    <c:v>management</c:v>
                  </c:pt>
                  <c:pt idx="7">
                    <c:v>admin.</c:v>
                  </c:pt>
                  <c:pt idx="8">
                    <c:v>unemployed</c:v>
                  </c:pt>
                  <c:pt idx="9">
                    <c:v>retired</c:v>
                  </c:pt>
                  <c:pt idx="10">
                    <c:v>student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6.9</c:v>
                </c:pt>
                <c:pt idx="1">
                  <c:v>8.1</c:v>
                </c:pt>
                <c:pt idx="2">
                  <c:v>8.5</c:v>
                </c:pt>
                <c:pt idx="3">
                  <c:v>10</c:v>
                </c:pt>
                <c:pt idx="4">
                  <c:v>10.5</c:v>
                </c:pt>
                <c:pt idx="5">
                  <c:v>10.8</c:v>
                </c:pt>
                <c:pt idx="6">
                  <c:v>11.2</c:v>
                </c:pt>
                <c:pt idx="7">
                  <c:v>13</c:v>
                </c:pt>
                <c:pt idx="8">
                  <c:v>14.2</c:v>
                </c:pt>
                <c:pt idx="9">
                  <c:v>25.3</c:v>
                </c:pt>
                <c:pt idx="10">
                  <c:v>31.4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0.6-1.3</c:v>
                  </c:pt>
                  <c:pt idx="1">
                    <c:v>1.3-4.2</c:v>
                  </c:pt>
                  <c:pt idx="2">
                    <c:v>4.2-4.9</c:v>
                  </c:pt>
                  <c:pt idx="3">
                    <c:v>4.9-5.0</c:v>
                  </c:pt>
                  <c:pt idx="4">
                    <c:v>5.0+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29.6</c:v>
                </c:pt>
                <c:pt idx="1">
                  <c:v>10.8</c:v>
                </c:pt>
                <c:pt idx="2">
                  <c:v>3.6</c:v>
                </c:pt>
                <c:pt idx="3">
                  <c:v>5.5</c:v>
                </c:pt>
                <c:pt idx="4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11.5</c:v>
                </c:pt>
                <c:pt idx="2">
                  <c:v>10.8</c:v>
                </c:pt>
                <c:pt idx="3">
                  <c:v>9.4</c:v>
                </c:pt>
                <c:pt idx="4">
                  <c:v>7.5</c:v>
                </c:pt>
                <c:pt idx="5">
                  <c:v>7.7</c:v>
                </c:pt>
                <c:pt idx="6">
                  <c:v>6</c:v>
                </c:pt>
                <c:pt idx="7">
                  <c:v>4.2</c:v>
                </c:pt>
                <c:pt idx="8">
                  <c:v>6</c:v>
                </c:pt>
                <c:pt idx="9">
                  <c:v>3.6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only about 1 in 9 calls ends in a subscription. The goal is to find who says yes and rank customers before dialling.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carry the story: prior success, lift, and gains. The caveat on the right-hand side is covered on the final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lives in five notebooks, one per step. Leakage from call duration is the most important modelling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is U-shaped: the oldest and youngest customers are the most receptive, but 65+ is only about 660 customers. Baseline is 11.3%.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 took a third of all calls at 6.4%. Months such as March, September, October and December convert near 50% but on very few calls, likely warm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with k=4 (best silhouette, 0.18). Prior-campaign history is the main separator; the silhouette is modest, so treat segments as profiles, not hard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 were compared; differences are small (0.800, 0.811, 0.812). Gradient boosting was selected. Features exclude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what-if, not a forecast. The ordering of strategies is robust; the euro values depend entirely on the stated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maps to a notebook finding. Pilots should run with a holdout group so uplift can be measured causally.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this makes the rest of the analysis more credible. The ranking still beats random, but expect smaller lifts than the random-split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309360" y="640080"/>
            <a:ext cx="2377440" cy="2377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7589520" y="2651760"/>
            <a:ext cx="1097280" cy="10972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Motif stat"/>
          <p:cNvSpPr txBox="1"/>
          <p:nvPr/>
        </p:nvSpPr>
        <p:spPr>
          <a:xfrm>
            <a:off x="6309360" y="1280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11.3%</a:t>
            </a:r>
            <a:endParaRPr lang="en-US" sz="4400" dirty="0"/>
          </a:p>
        </p:txBody>
      </p:sp>
      <p:sp>
        <p:nvSpPr>
          <p:cNvPr id="5" name="Motif caption"/>
          <p:cNvSpPr txBox="1"/>
          <p:nvPr/>
        </p:nvSpPr>
        <p:spPr>
          <a:xfrm>
            <a:off x="63093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yes</a:t>
            </a:r>
            <a:endParaRPr lang="en-US" sz="1400" dirty="0"/>
          </a:p>
        </p:txBody>
      </p:sp>
      <p:sp>
        <p:nvSpPr>
          <p:cNvPr id="6" name="Deck title"/>
          <p:cNvSpPr txBox="1"/>
          <p:nvPr/>
        </p:nvSpPr>
        <p:spPr>
          <a:xfrm>
            <a:off x="54864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Campaign Analysis</a:t>
            </a:r>
            <a:endParaRPr lang="en-US" sz="3800" dirty="0"/>
          </a:p>
        </p:txBody>
      </p:sp>
      <p:sp>
        <p:nvSpPr>
          <p:cNvPr id="7" name="Deck subtitle"/>
          <p:cNvSpPr txBox="1"/>
          <p:nvPr/>
        </p:nvSpPr>
        <p:spPr>
          <a:xfrm>
            <a:off x="548640" y="2743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subscribes to a term deposit, and how to call them first</a:t>
            </a:r>
            <a:endParaRPr lang="en-US" sz="1800" dirty="0"/>
          </a:p>
        </p:txBody>
      </p:sp>
      <p:sp>
        <p:nvSpPr>
          <p:cNvPr id="8" name="Deck footer"/>
          <p:cNvSpPr txBox="1"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bank phone campaigns, 41,176 customer contacts  |  Himanshu Prakash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smarter, not more: a ranked list reaches two-thirds of buyers with a fifth of the calls</a:t>
            </a:r>
            <a:endParaRPr lang="en-US" sz="2600" dirty="0"/>
          </a:p>
        </p:txBody>
      </p:sp>
      <p:sp>
        <p:nvSpPr>
          <p:cNvPr id="3" name="Stat prior card"/>
          <p:cNvSpPr/>
          <p:nvPr/>
        </p:nvSpPr>
        <p:spPr>
          <a:xfrm>
            <a:off x="45720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tat prior value"/>
          <p:cNvSpPr txBox="1"/>
          <p:nvPr/>
        </p:nvSpPr>
        <p:spPr>
          <a:xfrm>
            <a:off x="594360" y="1481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600" dirty="0"/>
          </a:p>
        </p:txBody>
      </p:sp>
      <p:sp>
        <p:nvSpPr>
          <p:cNvPr id="5" name="Stat prior label"/>
          <p:cNvSpPr txBox="1"/>
          <p:nvPr/>
        </p:nvSpPr>
        <p:spPr>
          <a:xfrm>
            <a:off x="594360" y="2121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who said yes to an earlier campaign said yes again (vs 9% for new contacts)</a:t>
            </a:r>
            <a:endParaRPr lang="en-US" sz="1200" dirty="0"/>
          </a:p>
        </p:txBody>
      </p:sp>
      <p:sp>
        <p:nvSpPr>
          <p:cNvPr id="6" name="Stat lift card"/>
          <p:cNvSpPr/>
          <p:nvPr/>
        </p:nvSpPr>
        <p:spPr>
          <a:xfrm>
            <a:off x="326898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tat lift value"/>
          <p:cNvSpPr txBox="1"/>
          <p:nvPr/>
        </p:nvSpPr>
        <p:spPr>
          <a:xfrm>
            <a:off x="3406140" y="1481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4.7x</a:t>
            </a:r>
            <a:endParaRPr lang="en-US" sz="3600" dirty="0"/>
          </a:p>
        </p:txBody>
      </p:sp>
      <p:sp>
        <p:nvSpPr>
          <p:cNvPr id="8" name="Stat lift label"/>
          <p:cNvSpPr txBox="1"/>
          <p:nvPr/>
        </p:nvSpPr>
        <p:spPr>
          <a:xfrm>
            <a:off x="3406140" y="2121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 the top 10% of model scores (53% conversion vs 11% average)</a:t>
            </a:r>
            <a:endParaRPr lang="en-US" sz="1200" dirty="0"/>
          </a:p>
        </p:txBody>
      </p:sp>
      <p:sp>
        <p:nvSpPr>
          <p:cNvPr id="9" name="Stat gains card"/>
          <p:cNvSpPr/>
          <p:nvPr/>
        </p:nvSpPr>
        <p:spPr>
          <a:xfrm>
            <a:off x="608076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tat gains value"/>
          <p:cNvSpPr txBox="1"/>
          <p:nvPr/>
        </p:nvSpPr>
        <p:spPr>
          <a:xfrm>
            <a:off x="6217920" y="1481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600" dirty="0"/>
          </a:p>
        </p:txBody>
      </p:sp>
      <p:sp>
        <p:nvSpPr>
          <p:cNvPr id="11" name="Stat gains label"/>
          <p:cNvSpPr txBox="1"/>
          <p:nvPr/>
        </p:nvSpPr>
        <p:spPr>
          <a:xfrm>
            <a:off x="6217920" y="2121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subscribers captured by calling only the top-scored 20% of customers</a:t>
            </a:r>
            <a:endParaRPr lang="en-US" sz="1200" dirty="0"/>
          </a:p>
        </p:txBody>
      </p:sp>
      <p:sp>
        <p:nvSpPr>
          <p:cNvPr id="12" name="Summary bullets"/>
          <p:cNvSpPr txBox="1"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audiences: past responders, retirees (65+), students and cellular contacts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levers: marital status, education and loans barely change the odds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accuracy drops on a time-forward test, so validate live before scaling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41,188 raw call records to a ranked call list in five steps</a:t>
            </a:r>
            <a:endParaRPr lang="en-US" sz="2600" dirty="0"/>
          </a:p>
        </p:txBody>
      </p:sp>
      <p:sp>
        <p:nvSpPr>
          <p:cNvPr id="3" name="Step 1 badge"/>
          <p:cNvSpPr/>
          <p:nvPr/>
        </p:nvSpPr>
        <p:spPr>
          <a:xfrm>
            <a:off x="502920" y="14173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tep 1 title"/>
          <p:cNvSpPr txBox="1"/>
          <p:nvPr/>
        </p:nvSpPr>
        <p:spPr>
          <a:xfrm>
            <a:off x="457200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tep 1 text"/>
          <p:cNvSpPr txBox="1"/>
          <p:nvPr/>
        </p:nvSpPr>
        <p:spPr>
          <a:xfrm>
            <a:off x="457200" y="2514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columns, 11% positive, hidden 'unknown' values</a:t>
            </a:r>
            <a:endParaRPr lang="en-US" sz="1400" dirty="0"/>
          </a:p>
        </p:txBody>
      </p:sp>
      <p:sp>
        <p:nvSpPr>
          <p:cNvPr id="7" name="Step 2 badge"/>
          <p:cNvSpPr/>
          <p:nvPr/>
        </p:nvSpPr>
        <p:spPr>
          <a:xfrm>
            <a:off x="2167128" y="14173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21671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tep 2 title"/>
          <p:cNvSpPr txBox="1"/>
          <p:nvPr/>
        </p:nvSpPr>
        <p:spPr>
          <a:xfrm>
            <a:off x="2121408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10" name="Step 2 text"/>
          <p:cNvSpPr txBox="1"/>
          <p:nvPr/>
        </p:nvSpPr>
        <p:spPr>
          <a:xfrm>
            <a:off x="2121408" y="2514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duplicates removed, 999 sentinel flagged, 8 features built</a:t>
            </a:r>
            <a:endParaRPr lang="en-US" sz="1400" dirty="0"/>
          </a:p>
        </p:txBody>
      </p:sp>
      <p:sp>
        <p:nvSpPr>
          <p:cNvPr id="11" name="Step 3 badge"/>
          <p:cNvSpPr/>
          <p:nvPr/>
        </p:nvSpPr>
        <p:spPr>
          <a:xfrm>
            <a:off x="3831336" y="14173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383133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tep 3 title"/>
          <p:cNvSpPr txBox="1"/>
          <p:nvPr/>
        </p:nvSpPr>
        <p:spPr>
          <a:xfrm>
            <a:off x="3785616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800" dirty="0"/>
          </a:p>
        </p:txBody>
      </p:sp>
      <p:sp>
        <p:nvSpPr>
          <p:cNvPr id="14" name="Step 3 text"/>
          <p:cNvSpPr txBox="1"/>
          <p:nvPr/>
        </p:nvSpPr>
        <p:spPr>
          <a:xfrm>
            <a:off x="3785616" y="2514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and lift for every driver</a:t>
            </a:r>
            <a:endParaRPr lang="en-US" sz="1400" dirty="0"/>
          </a:p>
        </p:txBody>
      </p:sp>
      <p:sp>
        <p:nvSpPr>
          <p:cNvPr id="15" name="Step 4 badge"/>
          <p:cNvSpPr/>
          <p:nvPr/>
        </p:nvSpPr>
        <p:spPr>
          <a:xfrm>
            <a:off x="5495544" y="14173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tep 4 number"/>
          <p:cNvSpPr txBox="1"/>
          <p:nvPr/>
        </p:nvSpPr>
        <p:spPr>
          <a:xfrm>
            <a:off x="549554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Step 4 title"/>
          <p:cNvSpPr txBox="1"/>
          <p:nvPr/>
        </p:nvSpPr>
        <p:spPr>
          <a:xfrm>
            <a:off x="5449824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800" dirty="0"/>
          </a:p>
        </p:txBody>
      </p:sp>
      <p:sp>
        <p:nvSpPr>
          <p:cNvPr id="18" name="Step 4 text"/>
          <p:cNvSpPr txBox="1"/>
          <p:nvPr/>
        </p:nvSpPr>
        <p:spPr>
          <a:xfrm>
            <a:off x="5449824" y="2514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K-Means groups of customers</a:t>
            </a:r>
            <a:endParaRPr lang="en-US" sz="1400" dirty="0"/>
          </a:p>
        </p:txBody>
      </p:sp>
      <p:sp>
        <p:nvSpPr>
          <p:cNvPr id="19" name="Step 5 badge"/>
          <p:cNvSpPr/>
          <p:nvPr/>
        </p:nvSpPr>
        <p:spPr>
          <a:xfrm>
            <a:off x="7159752" y="14173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Step 5 number"/>
          <p:cNvSpPr txBox="1"/>
          <p:nvPr/>
        </p:nvSpPr>
        <p:spPr>
          <a:xfrm>
            <a:off x="715975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Step 5 title"/>
          <p:cNvSpPr txBox="1"/>
          <p:nvPr/>
        </p:nvSpPr>
        <p:spPr>
          <a:xfrm>
            <a:off x="7114032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800" dirty="0"/>
          </a:p>
        </p:txBody>
      </p:sp>
      <p:sp>
        <p:nvSpPr>
          <p:cNvPr id="22" name="Step 5 text"/>
          <p:cNvSpPr txBox="1"/>
          <p:nvPr/>
        </p:nvSpPr>
        <p:spPr>
          <a:xfrm>
            <a:off x="7114032" y="2514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ranks customers before the call</a:t>
            </a:r>
            <a:endParaRPr lang="en-US" sz="1400" dirty="0"/>
          </a:p>
        </p:txBody>
      </p:sp>
      <p:sp>
        <p:nvSpPr>
          <p:cNvPr id="23" name="Rule card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Rule text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throughout: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information known before the call is used to predict. Call duration is excluded because it is only known afterwards.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Retirees, students and under-25s convert at 2-4x the average</a:t>
            </a:r>
            <a:endParaRPr lang="en-US" sz="2600" dirty="0"/>
          </a:p>
        </p:txBody>
      </p:sp>
      <p:sp>
        <p:nvSpPr>
          <p:cNvPr id="3" name="Age chart heading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age band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544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Job chart heading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job (%)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5544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interest rates and a first call do the heavy lifting; repeat calls fade fast</a:t>
            </a:r>
            <a:endParaRPr lang="en-US" sz="2600" dirty="0"/>
          </a:p>
        </p:txBody>
      </p:sp>
      <p:sp>
        <p:nvSpPr>
          <p:cNvPr id="3" name="Euribor chart heading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3-month Euribor quintile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54480"/>
          <a:ext cx="4023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ls chart heading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number of calls to the same customer (%)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554480"/>
          <a:ext cx="4023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hannel card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Channel text"/>
          <p:cNvSpPr txBox="1"/>
          <p:nvPr/>
        </p:nvSpPr>
        <p:spPr>
          <a:xfrm>
            <a:off x="640080" y="39593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contacts convert at 14.7% vs 5.2% on fixed telephone. These timing effects are associations, not proof of cause.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responders are 4% of the base but 21% of all subscribers</a:t>
            </a:r>
            <a:endParaRPr lang="en-US" sz="2600" dirty="0"/>
          </a:p>
        </p:txBody>
      </p:sp>
      <p:pic>
        <p:nvPicPr>
          <p:cNvPr id="3" name="Segment chart" descr="Bar charts of conversion rate and share of customers versus share of subscribers for four customer seg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187" y="1188720"/>
            <a:ext cx="6791625" cy="2331720"/>
          </a:xfrm>
          <a:prstGeom prst="rect">
            <a:avLst/>
          </a:prstGeom>
        </p:spPr>
      </p:pic>
      <p:graphicFrame>
        <p:nvGraphicFramePr>
          <p:cNvPr id="7" name="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1188720"/>
                <a:gridCol w="25603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Past-campaign responders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and prioritise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Past-campaign non-responders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Maintain, new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First-time prospects (young and mature)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8.2-9.3%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Re-target, use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pre-call score concentrates buyers: the top 20% holds two-thirds of them</a:t>
            </a:r>
            <a:endParaRPr lang="en-US" sz="2600" dirty="0"/>
          </a:p>
        </p:txBody>
      </p:sp>
      <p:pic>
        <p:nvPicPr>
          <p:cNvPr id="3" name="Lift and gains chart" descr="Lift by score decile and cumulative gains curve for the selected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944" y="1234440"/>
            <a:ext cx="6014111" cy="2148840"/>
          </a:xfrm>
          <a:prstGeom prst="rect">
            <a:avLst/>
          </a:prstGeom>
        </p:spPr>
      </p:pic>
      <p:sp>
        <p:nvSpPr>
          <p:cNvPr id="4" name="Stat auc card"/>
          <p:cNvSpPr/>
          <p:nvPr/>
        </p:nvSpPr>
        <p:spPr>
          <a:xfrm>
            <a:off x="457200" y="35204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tat auc value"/>
          <p:cNvSpPr txBox="1"/>
          <p:nvPr/>
        </p:nvSpPr>
        <p:spPr>
          <a:xfrm>
            <a:off x="594360" y="36301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3600" dirty="0"/>
          </a:p>
        </p:txBody>
      </p:sp>
      <p:sp>
        <p:nvSpPr>
          <p:cNvPr id="6" name="Stat auc label"/>
          <p:cNvSpPr txBox="1"/>
          <p:nvPr/>
        </p:nvSpPr>
        <p:spPr>
          <a:xfrm>
            <a:off x="594360" y="4270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 (random split), gradient boosting</a:t>
            </a:r>
            <a:endParaRPr lang="en-US" sz="1200" dirty="0"/>
          </a:p>
        </p:txBody>
      </p:sp>
      <p:sp>
        <p:nvSpPr>
          <p:cNvPr id="7" name="Stat top card"/>
          <p:cNvSpPr/>
          <p:nvPr/>
        </p:nvSpPr>
        <p:spPr>
          <a:xfrm>
            <a:off x="3268980" y="35204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Stat top value"/>
          <p:cNvSpPr txBox="1"/>
          <p:nvPr/>
        </p:nvSpPr>
        <p:spPr>
          <a:xfrm>
            <a:off x="3406140" y="36301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600" dirty="0"/>
          </a:p>
        </p:txBody>
      </p:sp>
      <p:sp>
        <p:nvSpPr>
          <p:cNvPr id="9" name="Stat top label"/>
          <p:cNvSpPr txBox="1"/>
          <p:nvPr/>
        </p:nvSpPr>
        <p:spPr>
          <a:xfrm>
            <a:off x="3406140" y="4270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in the top score decile</a:t>
            </a:r>
            <a:endParaRPr lang="en-US" sz="1200" dirty="0"/>
          </a:p>
        </p:txBody>
      </p:sp>
      <p:sp>
        <p:nvSpPr>
          <p:cNvPr id="10" name="Stat leak card"/>
          <p:cNvSpPr/>
          <p:nvPr/>
        </p:nvSpPr>
        <p:spPr>
          <a:xfrm>
            <a:off x="6080760" y="35204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tat leak value"/>
          <p:cNvSpPr txBox="1"/>
          <p:nvPr/>
        </p:nvSpPr>
        <p:spPr>
          <a:xfrm>
            <a:off x="6217920" y="36301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600" dirty="0"/>
          </a:p>
        </p:txBody>
      </p:sp>
      <p:sp>
        <p:nvSpPr>
          <p:cNvPr id="12" name="Stat leak label"/>
          <p:cNvSpPr txBox="1"/>
          <p:nvPr/>
        </p:nvSpPr>
        <p:spPr>
          <a:xfrm>
            <a:off x="6217920" y="4270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if call duration leaked in: why it is excluded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Illustration: calling the top ~19% could lift profit per call from about EUR 1 to EUR 29</a:t>
            </a:r>
            <a:endParaRPr lang="en-US" sz="2600" dirty="0"/>
          </a:p>
        </p:txBody>
      </p:sp>
      <p:sp>
        <p:nvSpPr>
          <p:cNvPr id="3" name="Scenario 1 card"/>
          <p:cNvSpPr/>
          <p:nvPr/>
        </p:nvSpPr>
        <p:spPr>
          <a:xfrm>
            <a:off x="457200" y="137160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cenario 1 title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everyone</a:t>
            </a:r>
            <a:endParaRPr lang="en-US" sz="2000" dirty="0"/>
          </a:p>
        </p:txBody>
      </p:sp>
      <p:sp>
        <p:nvSpPr>
          <p:cNvPr id="5" name="Scenario 1 details"/>
          <p:cNvSpPr txBox="1"/>
          <p:nvPr/>
        </p:nvSpPr>
        <p:spPr>
          <a:xfrm>
            <a:off x="685800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41,176 calls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subscribers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52K profit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1.3 per call</a:t>
            </a:r>
            <a:endParaRPr lang="en-US" sz="1600" dirty="0"/>
          </a:p>
        </p:txBody>
      </p:sp>
      <p:sp>
        <p:nvSpPr>
          <p:cNvPr id="6" name="Scenario 2 card"/>
          <p:cNvSpPr/>
          <p:nvPr/>
        </p:nvSpPr>
        <p:spPr>
          <a:xfrm>
            <a:off x="4663440" y="137160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7" name="Scenario 2 title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top-scored only</a:t>
            </a:r>
            <a:endParaRPr lang="en-US" sz="2000" dirty="0"/>
          </a:p>
        </p:txBody>
      </p:sp>
      <p:sp>
        <p:nvSpPr>
          <p:cNvPr id="8" name="Scenario 2 details"/>
          <p:cNvSpPr txBox="1"/>
          <p:nvPr/>
        </p:nvSpPr>
        <p:spPr>
          <a:xfrm>
            <a:off x="4892040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7,944 calls (19%)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subscribers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229K profit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28.8 per call</a:t>
            </a:r>
            <a:endParaRPr lang="en-US" sz="1600" dirty="0"/>
          </a:p>
        </p:txBody>
      </p:sp>
      <p:sp>
        <p:nvSpPr>
          <p:cNvPr id="9" name="Assumptions note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illustrative: EUR 10 cost per call, EUR 100 net value per deposit (break-even conversion 10%). The cut-off was chosen on the test set, so real gains will be lower. Replace with the bank's actual figures.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to improve targeting and revenue</a:t>
            </a:r>
            <a:endParaRPr lang="en-US" sz="2600" dirty="0"/>
          </a:p>
        </p:txBody>
      </p:sp>
      <p:sp>
        <p:nvSpPr>
          <p:cNvPr id="3" name="Rec 1 card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Rec 1 badge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Rec 1 number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Rec 1 title"/>
          <p:cNvSpPr txBox="1"/>
          <p:nvPr/>
        </p:nvSpPr>
        <p:spPr>
          <a:xfrm>
            <a:off x="1234440" y="1536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before you dial</a:t>
            </a:r>
            <a:endParaRPr lang="en-US" sz="1600" dirty="0"/>
          </a:p>
        </p:txBody>
      </p:sp>
      <p:sp>
        <p:nvSpPr>
          <p:cNvPr id="7" name="Rec 1 text"/>
          <p:cNvSpPr txBox="1"/>
          <p:nvPr/>
        </p:nvSpPr>
        <p:spPr>
          <a:xfrm>
            <a:off x="685800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customer and work the list top-down; stop where expected conversion falls below break-even.</a:t>
            </a:r>
            <a:endParaRPr lang="en-US" sz="1400" dirty="0"/>
          </a:p>
        </p:txBody>
      </p:sp>
      <p:sp>
        <p:nvSpPr>
          <p:cNvPr id="8" name="Rec 2 card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Rec 2 badge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Rec 2 number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Rec 2 title"/>
          <p:cNvSpPr txBox="1"/>
          <p:nvPr/>
        </p:nvSpPr>
        <p:spPr>
          <a:xfrm>
            <a:off x="5440680" y="1536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Re-activate past responders</a:t>
            </a:r>
            <a:endParaRPr lang="en-US" sz="1600" dirty="0"/>
          </a:p>
        </p:txBody>
      </p:sp>
      <p:sp>
        <p:nvSpPr>
          <p:cNvPr id="12" name="Rec 2 text"/>
          <p:cNvSpPr txBox="1"/>
          <p:nvPr/>
        </p:nvSpPr>
        <p:spPr>
          <a:xfrm>
            <a:off x="4892040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64% hit rate on 3.7% of the base: call first, with senior agents.</a:t>
            </a:r>
            <a:endParaRPr lang="en-US" sz="1400" dirty="0"/>
          </a:p>
        </p:txBody>
      </p:sp>
      <p:sp>
        <p:nvSpPr>
          <p:cNvPr id="13" name="Rec 3 card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Rec 3 badg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Rec 3 number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Rec 3 title"/>
          <p:cNvSpPr txBox="1"/>
          <p:nvPr/>
        </p:nvSpPr>
        <p:spPr>
          <a:xfrm>
            <a:off x="1234440" y="3182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channel and cap repeats</a:t>
            </a:r>
            <a:endParaRPr lang="en-US" sz="1600" dirty="0"/>
          </a:p>
        </p:txBody>
      </p:sp>
      <p:sp>
        <p:nvSpPr>
          <p:cNvPr id="17" name="Rec 3 text"/>
          <p:cNvSpPr txBox="1"/>
          <p:nvPr/>
        </p:nvSpPr>
        <p:spPr>
          <a:xfrm>
            <a:off x="685800" y="3749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cellular numbers and limit attempts per customer; success drops to under 5% after 8 calls.</a:t>
            </a:r>
            <a:endParaRPr lang="en-US" sz="1400" dirty="0"/>
          </a:p>
        </p:txBody>
      </p:sp>
      <p:sp>
        <p:nvSpPr>
          <p:cNvPr id="18" name="Rec 4 card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Rec 4 badge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Rec 4 number"/>
          <p:cNvSpPr txBox="1"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Rec 4 title"/>
          <p:cNvSpPr txBox="1"/>
          <p:nvPr/>
        </p:nvSpPr>
        <p:spPr>
          <a:xfrm>
            <a:off x="5440680" y="3182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niche audiences</a:t>
            </a:r>
            <a:endParaRPr lang="en-US" sz="1600" dirty="0"/>
          </a:p>
        </p:txBody>
      </p:sp>
      <p:sp>
        <p:nvSpPr>
          <p:cNvPr id="22" name="Rec 4 text"/>
          <p:cNvSpPr txBox="1"/>
          <p:nvPr/>
        </p:nvSpPr>
        <p:spPr>
          <a:xfrm>
            <a:off x="4892040" y="3749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Retirees, students and under-25s respond well; pilot tailored offers, then measure.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scaling: the 0.81 is optimistic, so validate on live calls</a:t>
            </a:r>
            <a:endParaRPr lang="en-US" sz="2600" dirty="0"/>
          </a:p>
        </p:txBody>
      </p:sp>
      <p:sp>
        <p:nvSpPr>
          <p:cNvPr id="3" name="Limitations text"/>
          <p:cNvSpPr txBox="1"/>
          <p:nvPr/>
        </p:nvSpPr>
        <p:spPr>
          <a:xfrm>
            <a:off x="45720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check: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earlier calls, tested on the latest 20%, AUC falls to 0.64-0.67.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effect: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 lead the model, and the data covers one unusual stretch (2008-2010).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cause: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and rate effects mix with who the bank chose to call.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regularly, run a live holdout test, and replace illustrative costs with real ones.</a:t>
            </a:r>
            <a:endParaRPr lang="en-US" sz="1600" dirty="0"/>
          </a:p>
        </p:txBody>
      </p:sp>
      <p:sp>
        <p:nvSpPr>
          <p:cNvPr id="4" name="Motif large"/>
          <p:cNvSpPr/>
          <p:nvPr/>
        </p:nvSpPr>
        <p:spPr>
          <a:xfrm>
            <a:off x="6126480" y="1554480"/>
            <a:ext cx="2560320" cy="25603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Motif stat"/>
          <p:cNvSpPr txBox="1"/>
          <p:nvPr/>
        </p:nvSpPr>
        <p:spPr>
          <a:xfrm>
            <a:off x="612648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4400" dirty="0"/>
          </a:p>
        </p:txBody>
      </p:sp>
      <p:sp>
        <p:nvSpPr>
          <p:cNvPr id="6" name="Motif caption"/>
          <p:cNvSpPr txBox="1"/>
          <p:nvPr/>
        </p:nvSpPr>
        <p:spPr>
          <a:xfrm>
            <a:off x="630936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a time-forward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 Marketing">
  <a:themeElements>
    <a:clrScheme name="Bank Marketing">
      <a:dk1>
        <a:srgbClr val="14213D"/>
      </a:dk1>
      <a:lt1>
        <a:srgbClr val="FFFFFF"/>
      </a:lt1>
      <a:dk2>
        <a:srgbClr val="1F3A5F"/>
      </a:dk2>
      <a:lt2>
        <a:srgbClr val="EEF2F6"/>
      </a:lt2>
      <a:accent1>
        <a:srgbClr val="2A9D8F"/>
      </a:accent1>
      <a:accent2>
        <a:srgbClr val="E76F51"/>
      </a:accent2>
      <a:accent3>
        <a:srgbClr val="1F3A5F"/>
      </a:accent3>
      <a:accent4>
        <a:srgbClr val="9AA5B1"/>
      </a:accent4>
      <a:accent5>
        <a:srgbClr val="E9C46A"/>
      </a:accent5>
      <a:accent6>
        <a:srgbClr val="6C757D"/>
      </a:accent6>
      <a:hlink>
        <a:srgbClr val="2A9D8F"/>
      </a:hlink>
      <a:folHlink>
        <a:srgbClr val="6C757D"/>
      </a:folHlink>
    </a:clrScheme>
    <a:fontScheme name="Bank Marke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Analysis</dc:title>
  <dc:subject>PptxGenJS Presentation</dc:subject>
  <dc:creator>Himanshu Prakash</dc:creator>
  <cp:lastModifiedBy>Himanshu Prakash</cp:lastModifiedBy>
  <cp:revision>1</cp:revision>
  <dcterms:created xsi:type="dcterms:W3CDTF">2026-10-08T06:41:44Z</dcterms:created>
  <dcterms:modified xsi:type="dcterms:W3CDTF">2026-10-08T06:41:44Z</dcterms:modified>
</cp:coreProperties>
</file>